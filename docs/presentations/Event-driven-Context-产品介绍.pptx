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3976210e274397" /><Relationship Type="http://schemas.openxmlformats.org/officeDocument/2006/relationships/extended-properties" Target="/docProps/app.xml" Id="R559a625ed9384c95" /><Relationship Type="http://schemas.openxmlformats.org/officeDocument/2006/relationships/officeDocument" Target="/ppt/presentation.xml" Id="R7fada30513ee48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8312232d0743aa"/>
  </p:sldMasterIdLst>
  <p:notesMasterIdLst>
    <p:notesMasterId xmlns:r="http://schemas.openxmlformats.org/officeDocument/2006/relationships" r:id="Rbedecfbc2d5b4c61"/>
  </p:notesMasterIdLst>
  <p:sldIdLst>
    <p:sldId xmlns:r="http://schemas.openxmlformats.org/officeDocument/2006/relationships" id="256" r:id="R9c5edaa471984757"/>
    <p:sldId xmlns:r="http://schemas.openxmlformats.org/officeDocument/2006/relationships" id="257" r:id="R44a42161279d47d3"/>
    <p:sldId xmlns:r="http://schemas.openxmlformats.org/officeDocument/2006/relationships" id="258" r:id="R3beea7294a7f40bb"/>
    <p:sldId xmlns:r="http://schemas.openxmlformats.org/officeDocument/2006/relationships" id="259" r:id="R637a040f6e4e4d07"/>
    <p:sldId xmlns:r="http://schemas.openxmlformats.org/officeDocument/2006/relationships" id="260" r:id="Rb6086d459a2a4954"/>
    <p:sldId xmlns:r="http://schemas.openxmlformats.org/officeDocument/2006/relationships" id="261" r:id="R20c6471718f34bcc"/>
    <p:sldId xmlns:r="http://schemas.openxmlformats.org/officeDocument/2006/relationships" id="262" r:id="Rf0a175db3b4f4415"/>
    <p:sldId xmlns:r="http://schemas.openxmlformats.org/officeDocument/2006/relationships" id="263" r:id="Rf8c541ee56ae4cf3"/>
    <p:sldId xmlns:r="http://schemas.openxmlformats.org/officeDocument/2006/relationships" id="264" r:id="R563ddfc6b9844d1d"/>
    <p:sldId xmlns:r="http://schemas.openxmlformats.org/officeDocument/2006/relationships" id="265" r:id="R65ffa9abbb5c40cc"/>
    <p:sldId xmlns:r="http://schemas.openxmlformats.org/officeDocument/2006/relationships" id="266" r:id="R7a54b33ded914e16"/>
    <p:sldId xmlns:r="http://schemas.openxmlformats.org/officeDocument/2006/relationships" id="267" r:id="R727e3ff8f4db41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180d95b0b947f0" /><Relationship Type="http://schemas.openxmlformats.org/officeDocument/2006/relationships/slideMaster" Target="/ppt/slideMasters/slideMaster1.xml" Id="R568312232d0743aa" /><Relationship Type="http://schemas.openxmlformats.org/officeDocument/2006/relationships/notesMaster" Target="/ppt/notesMasters/notesMaster1.xml" Id="Rbedecfbc2d5b4c61" /><Relationship Type="http://schemas.openxmlformats.org/officeDocument/2006/relationships/presProps" Target="/ppt/presProps.xml" Id="Re3c6b54f76794311" /><Relationship Type="http://schemas.openxmlformats.org/officeDocument/2006/relationships/tableStyles" Target="/ppt/tableStyles.xml" Id="R7652aded1cbf424c" /><Relationship Type="http://schemas.openxmlformats.org/officeDocument/2006/relationships/slide" Target="/ppt/slides/slide1.xml" Id="R9c5edaa471984757" /><Relationship Type="http://schemas.openxmlformats.org/officeDocument/2006/relationships/slide" Target="/ppt/slides/slide2.xml" Id="R44a42161279d47d3" /><Relationship Type="http://schemas.openxmlformats.org/officeDocument/2006/relationships/slide" Target="/ppt/slides/slide3.xml" Id="R3beea7294a7f40bb" /><Relationship Type="http://schemas.openxmlformats.org/officeDocument/2006/relationships/slide" Target="/ppt/slides/slide4.xml" Id="R637a040f6e4e4d07" /><Relationship Type="http://schemas.openxmlformats.org/officeDocument/2006/relationships/slide" Target="/ppt/slides/slide5.xml" Id="Rb6086d459a2a4954" /><Relationship Type="http://schemas.openxmlformats.org/officeDocument/2006/relationships/slide" Target="/ppt/slides/slide6.xml" Id="R20c6471718f34bcc" /><Relationship Type="http://schemas.openxmlformats.org/officeDocument/2006/relationships/slide" Target="/ppt/slides/slide7.xml" Id="Rf0a175db3b4f4415" /><Relationship Type="http://schemas.openxmlformats.org/officeDocument/2006/relationships/slide" Target="/ppt/slides/slide8.xml" Id="Rf8c541ee56ae4cf3" /><Relationship Type="http://schemas.openxmlformats.org/officeDocument/2006/relationships/slide" Target="/ppt/slides/slide9.xml" Id="R563ddfc6b9844d1d" /><Relationship Type="http://schemas.openxmlformats.org/officeDocument/2006/relationships/slide" Target="/ppt/slides/slide10.xml" Id="R65ffa9abbb5c40cc" /><Relationship Type="http://schemas.openxmlformats.org/officeDocument/2006/relationships/slide" Target="/ppt/slides/slide11.xml" Id="R7a54b33ded914e16" /><Relationship Type="http://schemas.openxmlformats.org/officeDocument/2006/relationships/slide" Target="/ppt/slides/slide12.xml" Id="R727e3ff8f4db41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b159b928ef49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0ed33d923c4283" /><Relationship Type="http://schemas.openxmlformats.org/officeDocument/2006/relationships/notesMaster" Target="/ppt/notesMasters/notesMaster1.xml" Id="Ra9a8be4b0e5944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9bad29846d440b" /><Relationship Type="http://schemas.openxmlformats.org/officeDocument/2006/relationships/notesMaster" Target="/ppt/notesMasters/notesMaster1.xml" Id="R96b30ee4aa3245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3aa98051464f28" /><Relationship Type="http://schemas.openxmlformats.org/officeDocument/2006/relationships/notesMaster" Target="/ppt/notesMasters/notesMaster1.xml" Id="R7a985cb78dd245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635d8d0aed4e24" /><Relationship Type="http://schemas.openxmlformats.org/officeDocument/2006/relationships/notesMaster" Target="/ppt/notesMasters/notesMaster1.xml" Id="R0ec3abe469454f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ba582437814647" /><Relationship Type="http://schemas.openxmlformats.org/officeDocument/2006/relationships/notesMaster" Target="/ppt/notesMasters/notesMaster1.xml" Id="Rad35fd681fee40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840ecce69847aa" /><Relationship Type="http://schemas.openxmlformats.org/officeDocument/2006/relationships/notesMaster" Target="/ppt/notesMasters/notesMaster1.xml" Id="R1cf8b0d26e3d4b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bb5a304cb54034" /><Relationship Type="http://schemas.openxmlformats.org/officeDocument/2006/relationships/notesMaster" Target="/ppt/notesMasters/notesMaster1.xml" Id="R6a415806502041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f314bbc4114e30" /><Relationship Type="http://schemas.openxmlformats.org/officeDocument/2006/relationships/notesMaster" Target="/ppt/notesMasters/notesMaster1.xml" Id="R270acd31d3a840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f6e07a5e974a85" /><Relationship Type="http://schemas.openxmlformats.org/officeDocument/2006/relationships/notesMaster" Target="/ppt/notesMasters/notesMaster1.xml" Id="R7f4711048a7041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45e577f872462e" /><Relationship Type="http://schemas.openxmlformats.org/officeDocument/2006/relationships/notesMaster" Target="/ppt/notesMasters/notesMaster1.xml" Id="Rc2f6a2cdb4dc44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2b16e439b8417b" /><Relationship Type="http://schemas.openxmlformats.org/officeDocument/2006/relationships/notesMaster" Target="/ppt/notesMasters/notesMaster1.xml" Id="R3a166c069f984f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d0270e77ea45ea" /><Relationship Type="http://schemas.openxmlformats.org/officeDocument/2006/relationships/notesMaster" Target="/ppt/notesMasters/notesMaster1.xml" Id="R07c5a01cc1a84a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开场：这是一款面向在多个 AI 对话中持续推进项目的用户的产品。核心目标是减少重复交代背景，让已记录的信息能够支持后续行动。封面为抽象插画，不代表实际产品界面。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1、10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以用户熟悉的场景开场：在多个工具中工作，每次换对话都需要寻找并重新解释目标、决定和约束。这是产品要验证的问题定义，不是量化用户调研结论。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1、4.2、10.1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 是一条带来源和时间的记录。Context 是为当前问题选择的材料和依据。Skill 描述一类工作的做法，用户通过插件安装来配置它的读取范围、执行器及输出。第一阶段不建立独立可编辑的 memory 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1、3、4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这是下一轮最小验证希望实现的情境示例，不是当前产品已完整实现的演示。用户先记录，在新对话中取回相关背景，再在收件箱里查看同一批记录形成的回顾。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4、10.1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输入处理设计将持久化与分析分开。原文或原始文件保存后，系统再根据规则调用 runner。语音逐字转录与后续摘要应区分，不能把润色当成原话。用户不安装任何插件，也应能记录和查询。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4.1、6.1、9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对话 agent 通过 MCP 提交问题、明确项目范围和输出预算。后端首版做确定性候选选择，由调用方 agent 理解表达。MCP 只提供调用能力，客户端是否自动调用仍需接入约定和真实对话验证。不会自动保存整段聊天。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4.2、10.2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性示例，金额来自产品文档中的预算变更示例，记录编号仅为演示编号。明确指向旧记录的变更决定当前预算。彼此没有取代关系的矛盾陈述要展示冲突。系统建议必须有用户身份的确认，才可能成为用户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6.1、6.2、10.3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插件安装需要选择固定 skill 版本、执行器、项目范围和允许的输出。skill 本身不负责计时、登录或投递。新事件和指定时间由规则与 runner 协作触发。每日回顾属于下一轮 MVP，提醒和推荐属于后续设计方向。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3、4.3、5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项目成员可以读取全部项目历史并追加。私人内容应放入私人项目，个人插件写入共享项目的结果并不自动成为私人结果。优先使用用户控制的 runner，凭据保留执行端。必须验证真实执行环境的非交互能力。外部分享是后续独立授权能力，默认草稿。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5.3、7、9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本页全部为下一轮最小验证目标。一个项目，一个真实 runner，一种可用音频格式，两个固定版本 skill。必须验证真实定时触发、引用、权限、失败重试和启停。首先验证执行器的非交互运行与转录能力，未通过时先解决阻塞。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10.1、10.2、10.3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既有基础按产品文档第 10.2 节的复用范围表述，本介绍没有重新验证部署状态，不承诺公开服务可用。下一轮 MVP 仍需实现与验收。图片分析、提醒推荐和外部分享属于后续方向。当前没有套餐、性能数字或日历工期承诺。完整用户链路验收前，不能宣称产品支持某种语言。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2.3、10、11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收尾：产品希望让用户已记录的信息成为持续工作的基础。最小闭环完成后，应检验用户是否减少重复解释、是否信任来源与回顾、是否愿意继续记录。检索遗漏和建议噪音未解决时，先改善这些问题。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来源：docs/product.md，版本 0.1，2026-09-12，第 1、10.3、10.4 节。本文为设计草案。除明确说明的既有基础外，功能描述体现产品设计与下一轮验证目标，未实现能力不构成交付承诺。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8587b95ff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15a9033efe46eb" /><Relationship Type="http://schemas.openxmlformats.org/officeDocument/2006/relationships/slideLayout" Target="/ppt/slideLayouts/slideLayout1.xml" Id="R86dc698d9405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dc698d9405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dd6d708be4fcc" /><Relationship Type="http://schemas.openxmlformats.org/officeDocument/2006/relationships/image" Target="/ppt/media/image.png" Id="R4bce7031168a44fe" /><Relationship Type="http://schemas.openxmlformats.org/officeDocument/2006/relationships/notesSlide" Target="/ppt/notesSlides/notesSlide1.xml" Id="R9002ff9bae604c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9758b29a144fb" /><Relationship Type="http://schemas.openxmlformats.org/officeDocument/2006/relationships/notesSlide" Target="/ppt/notesSlides/notesSlide2.xml" Id="Ree74dc79b6bd4b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467c2c7e94181" /><Relationship Type="http://schemas.openxmlformats.org/officeDocument/2006/relationships/notesSlide" Target="/ppt/notesSlides/notesSlide3.xml" Id="R3d432d0bbcc741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3e4cd7fdf4de6" /><Relationship Type="http://schemas.openxmlformats.org/officeDocument/2006/relationships/notesSlide" Target="/ppt/notesSlides/notesSlide4.xml" Id="Rb1153e5c0ed04a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b8cadb475468c" /><Relationship Type="http://schemas.openxmlformats.org/officeDocument/2006/relationships/notesSlide" Target="/ppt/notesSlides/notesSlide5.xml" Id="R726a6dac0c634f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49ed4b50041dd" /><Relationship Type="http://schemas.openxmlformats.org/officeDocument/2006/relationships/notesSlide" Target="/ppt/notesSlides/notesSlide6.xml" Id="Rd3d8d55826714d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8204f14c94896" /><Relationship Type="http://schemas.openxmlformats.org/officeDocument/2006/relationships/notesSlide" Target="/ppt/notesSlides/notesSlide7.xml" Id="R856074ae8c7f46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7048361a44524" /><Relationship Type="http://schemas.openxmlformats.org/officeDocument/2006/relationships/notesSlide" Target="/ppt/notesSlides/notesSlide8.xml" Id="R6550801602e348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631e5f8824674" /><Relationship Type="http://schemas.openxmlformats.org/officeDocument/2006/relationships/notesSlide" Target="/ppt/notesSlides/notesSlide9.xml" Id="Rd51a052f40344f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2977630bb4362" /><Relationship Type="http://schemas.openxmlformats.org/officeDocument/2006/relationships/notesSlide" Target="/ppt/notesSlides/notesSlide10.xml" Id="R1f8ca9e7e0dc4c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4223652494937" /><Relationship Type="http://schemas.openxmlformats.org/officeDocument/2006/relationships/notesSlide" Target="/ppt/notesSlides/notesSlide11.xml" Id="Rd07ee1aeb43f4d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e7315d9cd4f96" /><Relationship Type="http://schemas.openxmlformats.org/officeDocument/2006/relationships/image" Target="/ppt/media/image2.png" Id="Re551c0589d0a4d69" /><Relationship Type="http://schemas.openxmlformats.org/officeDocument/2006/relationships/notesSlide" Target="/ppt/notesSlides/notesSlide12.xml" Id="R8e29c566654144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e7031168a44f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15D1FD36-84E8-4118-9304-6CCE7372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99196C8D-2C41-4E14-95DB-ED87CCC8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sp>
        <p:nvSpPr>
          <p:cNvPr id="4" name="Event-driven&#10;Context">
            <a:extLst xmlns:a="http://schemas.openxmlformats.org/drawingml/2006/main">
              <a:ext uri="{FF2B5EF4-FFF2-40B4-BE49-F238E27FC236}">
                <a16:creationId xmlns:a16="http://schemas.microsoft.com/office/drawing/2014/main" id="{B35461FB-1DBA-40C3-BE0B-0ED9F3A8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Event-driven</a:t>
            </a:r>
          </a:p>
          <a:p xmlns:a="http://schemas.openxmlformats.org/drawingml/2006/main">
            <a:pPr>
              <a:defRPr sz="540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Context</a:t>
            </a:r>
          </a:p>
        </p:txBody>
      </p:sp>
      <p:sp>
        <p:nvSpPr>
          <p:cNvPr id="5" name="换个对话，继续推进">
            <a:extLst xmlns:a="http://schemas.openxmlformats.org/drawingml/2006/main">
              <a:ext uri="{FF2B5EF4-FFF2-40B4-BE49-F238E27FC236}">
                <a16:creationId xmlns:a16="http://schemas.microsoft.com/office/drawing/2014/main" id="{32477A24-E516-4A64-B506-CD44726A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换个对话，继续推进</a:t>
            </a:r>
          </a:p>
        </p:txBody>
      </p:sp>
      <p:sp>
        <p:nvSpPr>
          <p:cNvPr id="6" name="产品介绍   2026.09">
            <a:extLst xmlns:a="http://schemas.openxmlformats.org/drawingml/2006/main">
              <a:ext uri="{FF2B5EF4-FFF2-40B4-BE49-F238E27FC236}">
                <a16:creationId xmlns:a16="http://schemas.microsoft.com/office/drawing/2014/main" id="{A25B9A3A-8CE0-4330-9C8F-F4612A01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产品介绍   2026.09</a:t>
            </a:r>
          </a:p>
        </p:txBody>
      </p:sp>
      <p:sp>
        <p:nvSpPr>
          <p:cNvPr id="7" name="产品设计 v0.1 · 含下一轮 MVP 规划">
            <a:extLst xmlns:a="http://schemas.openxmlformats.org/drawingml/2006/main">
              <a:ext uri="{FF2B5EF4-FFF2-40B4-BE49-F238E27FC236}">
                <a16:creationId xmlns:a16="http://schemas.microsoft.com/office/drawing/2014/main" id="{036EA986-781B-4951-98D2-83AB39CD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产品设计 v0.1 · 含下一轮 MVP 规划</a:t>
            </a:r>
          </a:p>
        </p:txBody>
      </p:sp>
    </p:spTree>
    <p:extLst>
      <p:ext uri="{BB962C8B-B14F-4D97-AF65-F5344CB8AC3E}">
        <p14:creationId xmlns:p14="http://schemas.microsoft.com/office/powerpoint/2010/main" val="1360270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项目在继续，背景却散在不同对话里">
            <a:extLst xmlns:a="http://schemas.openxmlformats.org/drawingml/2006/main">
              <a:ext uri="{FF2B5EF4-FFF2-40B4-BE49-F238E27FC236}">
                <a16:creationId xmlns:a16="http://schemas.microsoft.com/office/drawing/2014/main" id="{709BDE51-1567-490D-A76A-2C677AFE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项目在继续，背景却散在不同对话里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8E1363C6-4285-45ED-8F25-2D492C94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9BF9CD3A-A9F2-43EA-B77D-214274A0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sp>
        <p:nvSpPr>
          <p:cNvPr id="4" name="“我们现在的预算是多少？&#10;上次为什么这样决定？”">
            <a:extLst xmlns:a="http://schemas.openxmlformats.org/drawingml/2006/main">
              <a:ext uri="{FF2B5EF4-FFF2-40B4-BE49-F238E27FC236}">
                <a16:creationId xmlns:a16="http://schemas.microsoft.com/office/drawing/2014/main" id="{CD0A0C4D-DF60-442A-A14E-2BDDA0D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“我们现在的预算是多少？</a:t>
            </a:r>
          </a:p>
          <a:p xmlns:a="http://schemas.openxmlformats.org/drawingml/2006/main">
            <a:pPr>
              <a:defRPr sz="36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上次为什么这样决定？”</a:t>
            </a:r>
          </a:p>
        </p:txBody>
      </p:sp>
      <p:sp>
        <p:nvSpPr>
          <p:cNvPr id="5" name="重复解释">
            <a:extLst xmlns:a="http://schemas.openxmlformats.org/drawingml/2006/main">
              <a:ext uri="{FF2B5EF4-FFF2-40B4-BE49-F238E27FC236}">
                <a16:creationId xmlns:a16="http://schemas.microsoft.com/office/drawing/2014/main" id="{0EC3B035-F00E-4D98-8E59-19BD785F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重复解释</a:t>
            </a:r>
          </a:p>
        </p:txBody>
      </p:sp>
      <p:sp>
        <p:nvSpPr>
          <p:cNvPr id="6" name="目标、约束和历史决定，需要在新对话中重新交代。">
            <a:extLst xmlns:a="http://schemas.openxmlformats.org/drawingml/2006/main">
              <a:ext uri="{FF2B5EF4-FFF2-40B4-BE49-F238E27FC236}">
                <a16:creationId xmlns:a16="http://schemas.microsoft.com/office/drawing/2014/main" id="{796841A7-BE49-49F1-9FE2-D58DB20D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目标、约束和历史决定，需要在新对话中重新交代。</a:t>
            </a:r>
          </a:p>
        </p:txBody>
      </p:sp>
      <p:sp>
        <p:nvSpPr>
          <p:cNvPr id="7" name="反复查找">
            <a:extLst xmlns:a="http://schemas.openxmlformats.org/drawingml/2006/main">
              <a:ext uri="{FF2B5EF4-FFF2-40B4-BE49-F238E27FC236}">
                <a16:creationId xmlns:a16="http://schemas.microsoft.com/office/drawing/2014/main" id="{022389C3-1CA1-4112-8C40-1ED69C12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反复查找</a:t>
            </a:r>
          </a:p>
        </p:txBody>
      </p:sp>
      <p:sp>
        <p:nvSpPr>
          <p:cNvPr id="8" name="原话、更新与 AI 建议混在一起，难以判断当前依据。">
            <a:extLst xmlns:a="http://schemas.openxmlformats.org/drawingml/2006/main">
              <a:ext uri="{FF2B5EF4-FFF2-40B4-BE49-F238E27FC236}">
                <a16:creationId xmlns:a16="http://schemas.microsoft.com/office/drawing/2014/main" id="{87FB3FFC-3667-4CDD-814C-3F6DC682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原话、更新与 AI 建议混在一起，难以判断当前依据。</a:t>
            </a:r>
          </a:p>
        </p:txBody>
      </p:sp>
    </p:spTree>
    <p:extLst>
      <p:ext uri="{BB962C8B-B14F-4D97-AF65-F5344CB8AC3E}">
        <p14:creationId xmlns:p14="http://schemas.microsoft.com/office/powerpoint/2010/main" val="1394121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持续记录，按当前任务取回背景">
            <a:extLst xmlns:a="http://schemas.openxmlformats.org/drawingml/2006/main">
              <a:ext uri="{FF2B5EF4-FFF2-40B4-BE49-F238E27FC236}">
                <a16:creationId xmlns:a16="http://schemas.microsoft.com/office/drawing/2014/main" id="{13D9850B-1275-48F3-A892-4705A13B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持续记录，按当前任务取回背景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1206582F-FE56-4759-837A-935B0267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DB16B7F2-687B-4C8A-ADDB-E96464F0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sp>
        <p:nvSpPr>
          <p:cNvPr id="4" name="Event-driven Context 把已有信息留在项目中，&#10;供对话中的 a">
            <a:extLst xmlns:a="http://schemas.openxmlformats.org/drawingml/2006/main">
              <a:ext uri="{FF2B5EF4-FFF2-40B4-BE49-F238E27FC236}">
                <a16:creationId xmlns:a16="http://schemas.microsoft.com/office/drawing/2014/main" id="{F901F0AC-057D-44C6-BDA6-3C914759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Event-driven Context 把已有信息留在项目中，</a:t>
            </a:r>
          </a:p>
          <a:p xmlns:a="http://schemas.openxmlformats.org/drawingml/2006/main">
            <a:pPr>
              <a:defRPr sz="2550" b="0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供对话中的 agent 和用户安装的服务按需使用。</a:t>
            </a:r>
          </a:p>
        </p:txBody>
      </p:sp>
      <p:sp>
        <p:nvSpPr>
          <p:cNvPr id="5" name="Event">
            <a:extLst xmlns:a="http://schemas.openxmlformats.org/drawingml/2006/main">
              <a:ext uri="{FF2B5EF4-FFF2-40B4-BE49-F238E27FC236}">
                <a16:creationId xmlns:a16="http://schemas.microsoft.com/office/drawing/2014/main" id="{9DF0A148-284A-46D8-9E42-B4A9C8BC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Event</a:t>
            </a:r>
          </a:p>
        </p:txBody>
      </p:sp>
      <p:sp>
        <p:nvSpPr>
          <p:cNvPr id="6" name="保存发生过的事">
            <a:extLst xmlns:a="http://schemas.openxmlformats.org/drawingml/2006/main">
              <a:ext uri="{FF2B5EF4-FFF2-40B4-BE49-F238E27FC236}">
                <a16:creationId xmlns:a16="http://schemas.microsoft.com/office/drawing/2014/main" id="{04AFFBFD-4239-4757-B182-46C119F5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保存发生过的事</a:t>
            </a:r>
          </a:p>
        </p:txBody>
      </p:sp>
      <p:sp>
        <p:nvSpPr>
          <p:cNvPr id="7" name="文字、录音与原始文件&#10;保留时间、身份和出处">
            <a:extLst xmlns:a="http://schemas.openxmlformats.org/drawingml/2006/main">
              <a:ext uri="{FF2B5EF4-FFF2-40B4-BE49-F238E27FC236}">
                <a16:creationId xmlns:a16="http://schemas.microsoft.com/office/drawing/2014/main" id="{2381A92F-DD34-4A3D-B6B9-B6DDDF55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314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文字、录音与原始文件</a:t>
            </a:r>
          </a:p>
          <a:p xmlns:a="http://schemas.openxmlformats.org/drawingml/2006/main">
            <a:pPr>
              <a:def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保留时间、身份和出处</a:t>
            </a:r>
          </a:p>
        </p:txBody>
      </p:sp>
      <p:sp>
        <p:nvSpPr>
          <p:cNvPr id="8" name="Context">
            <a:extLst xmlns:a="http://schemas.openxmlformats.org/drawingml/2006/main">
              <a:ext uri="{FF2B5EF4-FFF2-40B4-BE49-F238E27FC236}">
                <a16:creationId xmlns:a16="http://schemas.microsoft.com/office/drawing/2014/main" id="{5D42FE40-9B8D-4618-8F8E-69327D3E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Context</a:t>
            </a:r>
          </a:p>
        </p:txBody>
      </p:sp>
      <p:sp>
        <p:nvSpPr>
          <p:cNvPr id="9" name="选出此刻需要的背景">
            <a:extLst xmlns:a="http://schemas.openxmlformats.org/drawingml/2006/main">
              <a:ext uri="{FF2B5EF4-FFF2-40B4-BE49-F238E27FC236}">
                <a16:creationId xmlns:a16="http://schemas.microsoft.com/office/drawing/2014/main" id="{BECAF0DB-7D33-48CD-A647-5A72B979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62400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选出此刻需要的背景</a:t>
            </a:r>
          </a:p>
        </p:txBody>
      </p:sp>
      <p:sp>
        <p:nvSpPr>
          <p:cNvPr id="10" name="围绕当前问题提取&#10;目标、决定、约束与缺口">
            <a:extLst xmlns:a="http://schemas.openxmlformats.org/drawingml/2006/main">
              <a:ext uri="{FF2B5EF4-FFF2-40B4-BE49-F238E27FC236}">
                <a16:creationId xmlns:a16="http://schemas.microsoft.com/office/drawing/2014/main" id="{6C10FCED-A193-4175-B11A-7A102BFA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667250"/>
            <a:ext cx="3314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围绕当前问题提取</a:t>
            </a:r>
          </a:p>
          <a:p xmlns:a="http://schemas.openxmlformats.org/drawingml/2006/main">
            <a:pPr>
              <a:def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目标、决定、约束与缺口</a:t>
            </a:r>
          </a:p>
        </p:txBody>
      </p:sp>
      <p:sp>
        <p:nvSpPr>
          <p:cNvPr id="11" name="Skill">
            <a:extLst xmlns:a="http://schemas.openxmlformats.org/drawingml/2006/main">
              <a:ext uri="{FF2B5EF4-FFF2-40B4-BE49-F238E27FC236}">
                <a16:creationId xmlns:a16="http://schemas.microsoft.com/office/drawing/2014/main" id="{1FD1D66F-9D16-443F-BD67-D7DB53ED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861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Skill</a:t>
            </a:r>
          </a:p>
        </p:txBody>
      </p:sp>
      <p:sp>
        <p:nvSpPr>
          <p:cNvPr id="12" name="按用户配置处理信息">
            <a:extLst xmlns:a="http://schemas.openxmlformats.org/drawingml/2006/main">
              <a:ext uri="{FF2B5EF4-FFF2-40B4-BE49-F238E27FC236}">
                <a16:creationId xmlns:a16="http://schemas.microsoft.com/office/drawing/2014/main" id="{8D6000FD-D357-4B7E-8E9C-6695202F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按用户配置处理信息</a:t>
            </a:r>
          </a:p>
        </p:txBody>
      </p:sp>
      <p:sp>
        <p:nvSpPr>
          <p:cNvPr id="13" name="新记录或指定时间触发&#10;产出转录、回顾等结果">
            <a:extLst xmlns:a="http://schemas.openxmlformats.org/drawingml/2006/main">
              <a:ext uri="{FF2B5EF4-FFF2-40B4-BE49-F238E27FC236}">
                <a16:creationId xmlns:a16="http://schemas.microsoft.com/office/drawing/2014/main" id="{4DF406CD-A9A4-4752-90E4-4A98C66F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314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新记录或指定时间触发</a:t>
            </a:r>
          </a:p>
          <a:p xmlns:a="http://schemas.openxmlformats.org/drawingml/2006/main">
            <a:pPr>
              <a:def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产出转录、回顾等结果</a:t>
            </a:r>
          </a:p>
        </p:txBody>
      </p:sp>
    </p:spTree>
    <p:extLst>
      <p:ext uri="{BB962C8B-B14F-4D97-AF65-F5344CB8AC3E}">
        <p14:creationId xmlns:p14="http://schemas.microsoft.com/office/powerpoint/2010/main" val="1038972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一个项目，一天里的连续工作">
            <a:extLst xmlns:a="http://schemas.openxmlformats.org/drawingml/2006/main">
              <a:ext uri="{FF2B5EF4-FFF2-40B4-BE49-F238E27FC236}">
                <a16:creationId xmlns:a16="http://schemas.microsoft.com/office/drawing/2014/main" id="{749DE5B3-0876-40C1-AE1E-0B624A9F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一个项目，一天里的连续工作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A4D93925-0782-4A04-8E7C-263CE825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C8FD5166-2C76-43B7-BA85-BE024A36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sp>
        <p:nvSpPr>
          <p:cNvPr id="4" name="上午">
            <a:extLst xmlns:a="http://schemas.openxmlformats.org/drawingml/2006/main">
              <a:ext uri="{FF2B5EF4-FFF2-40B4-BE49-F238E27FC236}">
                <a16:creationId xmlns:a16="http://schemas.microsoft.com/office/drawing/2014/main" id="{D072D15E-FEAB-4D1F-8E65-E41B10CE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上午</a:t>
            </a:r>
          </a:p>
        </p:txBody>
      </p:sp>
      <p:sp>
        <p:nvSpPr>
          <p:cNvPr id="5" name="留下记录">
            <a:extLst xmlns:a="http://schemas.openxmlformats.org/drawingml/2006/main">
              <a:ext uri="{FF2B5EF4-FFF2-40B4-BE49-F238E27FC236}">
                <a16:creationId xmlns:a16="http://schemas.microsoft.com/office/drawing/2014/main" id="{09727836-8FD8-4597-A727-39622703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430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留下记录</a:t>
            </a:r>
          </a:p>
        </p:txBody>
      </p:sp>
      <p:sp>
        <p:nvSpPr>
          <p:cNvPr id="6" name="上传会议录音，补充一条预算决定">
            <a:extLst xmlns:a="http://schemas.openxmlformats.org/drawingml/2006/main">
              <a:ext uri="{FF2B5EF4-FFF2-40B4-BE49-F238E27FC236}">
                <a16:creationId xmlns:a16="http://schemas.microsoft.com/office/drawing/2014/main" id="{3829B2AE-8B8F-4B89-95EC-D37BCE13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771650"/>
            <a:ext cx="6448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上传会议录音，补充一条预算决定</a:t>
            </a:r>
          </a:p>
        </p:txBody>
      </p:sp>
      <p:sp>
        <p:nvSpPr>
          <p:cNvPr id="7" name="下午">
            <a:extLst xmlns:a="http://schemas.openxmlformats.org/drawingml/2006/main">
              <a:ext uri="{FF2B5EF4-FFF2-40B4-BE49-F238E27FC236}">
                <a16:creationId xmlns:a16="http://schemas.microsoft.com/office/drawing/2014/main" id="{A38E7A75-ED75-4B85-871B-D0EF4EF7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下午</a:t>
            </a:r>
          </a:p>
        </p:txBody>
      </p:sp>
      <p:sp>
        <p:nvSpPr>
          <p:cNvPr id="8" name="接着推进">
            <a:extLst xmlns:a="http://schemas.openxmlformats.org/drawingml/2006/main">
              <a:ext uri="{FF2B5EF4-FFF2-40B4-BE49-F238E27FC236}">
                <a16:creationId xmlns:a16="http://schemas.microsoft.com/office/drawing/2014/main" id="{482F1C81-EA4A-4B6C-993D-F8F19C99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003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接着推进</a:t>
            </a:r>
          </a:p>
        </p:txBody>
      </p:sp>
      <p:sp>
        <p:nvSpPr>
          <p:cNvPr id="9" name="新对话通过 MCP 取回相关背景与出处">
            <a:extLst xmlns:a="http://schemas.openxmlformats.org/drawingml/2006/main">
              <a:ext uri="{FF2B5EF4-FFF2-40B4-BE49-F238E27FC236}">
                <a16:creationId xmlns:a16="http://schemas.microsoft.com/office/drawing/2014/main" id="{961B77B8-6FD8-451F-A786-6EADC242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28925"/>
            <a:ext cx="6448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新对话通过 MCP 取回相关背景与出处</a:t>
            </a:r>
          </a:p>
        </p:txBody>
      </p:sp>
      <p:sp>
        <p:nvSpPr>
          <p:cNvPr id="10" name="晚上">
            <a:extLst xmlns:a="http://schemas.openxmlformats.org/drawingml/2006/main">
              <a:ext uri="{FF2B5EF4-FFF2-40B4-BE49-F238E27FC236}">
                <a16:creationId xmlns:a16="http://schemas.microsoft.com/office/drawing/2014/main" id="{E0EC262A-D8A5-470D-969D-8EC4A57F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晚上</a:t>
            </a:r>
          </a:p>
        </p:txBody>
      </p:sp>
      <p:sp>
        <p:nvSpPr>
          <p:cNvPr id="11" name="查看回顾">
            <a:extLst xmlns:a="http://schemas.openxmlformats.org/drawingml/2006/main">
              <a:ext uri="{FF2B5EF4-FFF2-40B4-BE49-F238E27FC236}">
                <a16:creationId xmlns:a16="http://schemas.microsoft.com/office/drawing/2014/main" id="{F73493F1-9EF2-4982-9D1A-43E6FA69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576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查看回顾</a:t>
            </a:r>
          </a:p>
        </p:txBody>
      </p:sp>
      <p:sp>
        <p:nvSpPr>
          <p:cNvPr id="12" name="已安装的 skill 按时整理当日进展">
            <a:extLst xmlns:a="http://schemas.openxmlformats.org/drawingml/2006/main">
              <a:ext uri="{FF2B5EF4-FFF2-40B4-BE49-F238E27FC236}">
                <a16:creationId xmlns:a16="http://schemas.microsoft.com/office/drawing/2014/main" id="{DEA93E6F-6E59-450A-96C9-F6DE5B92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886200"/>
            <a:ext cx="6448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已安装的 skill 按时整理当日进展</a:t>
            </a:r>
          </a:p>
        </p:txBody>
      </p:sp>
      <p:sp>
        <p:nvSpPr>
          <p:cNvPr id="13" name="次日">
            <a:extLst xmlns:a="http://schemas.openxmlformats.org/drawingml/2006/main">
              <a:ext uri="{FF2B5EF4-FFF2-40B4-BE49-F238E27FC236}">
                <a16:creationId xmlns:a16="http://schemas.microsoft.com/office/drawing/2014/main" id="{A7E4CEC8-6743-4CD6-BFBC-34139975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次日</a:t>
            </a:r>
          </a:p>
        </p:txBody>
      </p:sp>
      <p:sp>
        <p:nvSpPr>
          <p:cNvPr id="14" name="继续使用">
            <a:extLst xmlns:a="http://schemas.openxmlformats.org/drawingml/2006/main">
              <a:ext uri="{FF2B5EF4-FFF2-40B4-BE49-F238E27FC236}">
                <a16:creationId xmlns:a16="http://schemas.microsoft.com/office/drawing/2014/main" id="{9ABC285A-FE36-4F11-BFF6-6D7CFC3A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149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继续使用</a:t>
            </a:r>
          </a:p>
        </p:txBody>
      </p:sp>
      <p:sp>
        <p:nvSpPr>
          <p:cNvPr id="15" name="引用已有记录，补充新决定和纠正">
            <a:extLst xmlns:a="http://schemas.openxmlformats.org/drawingml/2006/main">
              <a:ext uri="{FF2B5EF4-FFF2-40B4-BE49-F238E27FC236}">
                <a16:creationId xmlns:a16="http://schemas.microsoft.com/office/drawing/2014/main" id="{BD35315B-4401-4D2E-BEC3-02DE7053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943475"/>
            <a:ext cx="6448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引用已有记录，补充新决定和纠正</a:t>
            </a:r>
          </a:p>
        </p:txBody>
      </p:sp>
    </p:spTree>
    <p:extLst>
      <p:ext uri="{BB962C8B-B14F-4D97-AF65-F5344CB8AC3E}">
        <p14:creationId xmlns:p14="http://schemas.microsoft.com/office/powerpoint/2010/main" val="19845217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原始记录先保存，处理结果保留出处">
            <a:extLst xmlns:a="http://schemas.openxmlformats.org/drawingml/2006/main">
              <a:ext uri="{FF2B5EF4-FFF2-40B4-BE49-F238E27FC236}">
                <a16:creationId xmlns:a16="http://schemas.microsoft.com/office/drawing/2014/main" id="{9E4CF055-0AC1-4164-9D6A-EF070F77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原始记录先保存，处理结果保留出处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400034D3-704B-4FE5-9D89-35970B85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78072BB5-CF15-4B78-B34C-7B85464A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sp>
        <p:nvSpPr>
          <p:cNvPr id="4" name="原始内容">
            <a:extLst xmlns:a="http://schemas.openxmlformats.org/drawingml/2006/main">
              <a:ext uri="{FF2B5EF4-FFF2-40B4-BE49-F238E27FC236}">
                <a16:creationId xmlns:a16="http://schemas.microsoft.com/office/drawing/2014/main" id="{12F9883A-C32B-48A8-A9B1-9C1AF894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原始内容</a:t>
            </a:r>
          </a:p>
        </p:txBody>
      </p:sp>
      <p:sp>
        <p:nvSpPr>
          <p:cNvPr id="5" name="保留文字与原始文件&#10;附带身份、时间和 metadata">
            <a:extLst xmlns:a="http://schemas.openxmlformats.org/drawingml/2006/main">
              <a:ext uri="{FF2B5EF4-FFF2-40B4-BE49-F238E27FC236}">
                <a16:creationId xmlns:a16="http://schemas.microsoft.com/office/drawing/2014/main" id="{B410D530-16FA-4B64-A9C8-B3FF58B1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648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保留文字与原始文件</a:t>
            </a:r>
          </a:p>
          <a:p xmlns:a="http://schemas.openxmlformats.org/drawingml/2006/main">
            <a:pPr>
              <a:defRPr sz="23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附带身份、时间和 metadata</a:t>
            </a:r>
          </a:p>
        </p:txBody>
      </p:sp>
      <p:sp>
        <p:nvSpPr>
          <p:cNvPr id="6" name="衍生结果">
            <a:extLst xmlns:a="http://schemas.openxmlformats.org/drawingml/2006/main">
              <a:ext uri="{FF2B5EF4-FFF2-40B4-BE49-F238E27FC236}">
                <a16:creationId xmlns:a16="http://schemas.microsoft.com/office/drawing/2014/main" id="{FA14A817-418D-4C91-B0DE-D8F987D3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76425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衍生结果</a:t>
            </a:r>
          </a:p>
        </p:txBody>
      </p:sp>
      <p:sp>
        <p:nvSpPr>
          <p:cNvPr id="7" name="转录、分析或摘要分别保存&#10;每条结果都能回到输入记录">
            <a:extLst xmlns:a="http://schemas.openxmlformats.org/drawingml/2006/main">
              <a:ext uri="{FF2B5EF4-FFF2-40B4-BE49-F238E27FC236}">
                <a16:creationId xmlns:a16="http://schemas.microsoft.com/office/drawing/2014/main" id="{93AEDAA9-1FDB-40C0-BB87-BC637F5C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43200"/>
            <a:ext cx="4648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转录、分析或摘要分别保存</a:t>
            </a:r>
          </a:p>
          <a:p xmlns:a="http://schemas.openxmlformats.org/drawingml/2006/main">
            <a:pPr>
              <a:defRPr sz="23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每条结果都能回到输入记录</a:t>
            </a:r>
          </a:p>
        </p:txBody>
      </p:sp>
      <p:sp>
        <p:nvSpPr>
          <p:cNvPr id="8" name="转录失败，原始录音仍然可读">
            <a:extLst xmlns:a="http://schemas.openxmlformats.org/drawingml/2006/main">
              <a:ext uri="{FF2B5EF4-FFF2-40B4-BE49-F238E27FC236}">
                <a16:creationId xmlns:a16="http://schemas.microsoft.com/office/drawing/2014/main" id="{936F7810-C273-4CA8-8A31-CF26E0F0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转录失败，原始录音仍然可读</a:t>
            </a:r>
          </a:p>
        </p:txBody>
      </p:sp>
      <p:sp>
        <p:nvSpPr>
          <p:cNvPr id="9" name="可查看处理状态、重试，也可主动重跑并保留旧版结果。">
            <a:extLst xmlns:a="http://schemas.openxmlformats.org/drawingml/2006/main">
              <a:ext uri="{FF2B5EF4-FFF2-40B4-BE49-F238E27FC236}">
                <a16:creationId xmlns:a16="http://schemas.microsoft.com/office/drawing/2014/main" id="{59D296B6-A2A8-40BD-804D-1F9353DF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可查看处理状态、重试，也可主动重跑并保留旧版结果。</a:t>
            </a:r>
          </a:p>
        </p:txBody>
      </p:sp>
    </p:spTree>
    <p:extLst>
      <p:ext uri="{BB962C8B-B14F-4D97-AF65-F5344CB8AC3E}">
        <p14:creationId xmlns:p14="http://schemas.microsoft.com/office/powerpoint/2010/main" val="1360207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新对话得到与问题相关的依据">
            <a:extLst xmlns:a="http://schemas.openxmlformats.org/drawingml/2006/main">
              <a:ext uri="{FF2B5EF4-FFF2-40B4-BE49-F238E27FC236}">
                <a16:creationId xmlns:a16="http://schemas.microsoft.com/office/drawing/2014/main" id="{12B3E43A-36F4-43DE-850F-96517D71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新对话得到与问题相关的依据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46F81415-F228-4BAB-A2F4-C86B36BD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596C87F3-C996-4815-8049-793D6B4F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sp>
        <p:nvSpPr>
          <p:cNvPr id="4" name="“按当前预算，&#10;下一步应该怎么做？”">
            <a:extLst xmlns:a="http://schemas.openxmlformats.org/drawingml/2006/main">
              <a:ext uri="{FF2B5EF4-FFF2-40B4-BE49-F238E27FC236}">
                <a16:creationId xmlns:a16="http://schemas.microsoft.com/office/drawing/2014/main" id="{4C579976-B0CC-4EB9-B42D-39DD80E8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“按当前预算，</a:t>
            </a:r>
          </a:p>
          <a:p xmlns:a="http://schemas.openxmlformats.org/drawingml/2006/main">
            <a:pPr>
              <a:defRPr sz="36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下一步应该怎么做？”</a:t>
            </a:r>
          </a:p>
        </p:txBody>
      </p:sp>
      <p:sp>
        <p:nvSpPr>
          <p:cNvPr id="5" name="提取范围由当前问题和项目决定">
            <a:extLst xmlns:a="http://schemas.openxmlformats.org/drawingml/2006/main">
              <a:ext uri="{FF2B5EF4-FFF2-40B4-BE49-F238E27FC236}">
                <a16:creationId xmlns:a16="http://schemas.microsoft.com/office/drawing/2014/main" id="{75D61EA5-EFC3-4D2B-82F5-41469E93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905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提取范围由当前问题和项目决定</a:t>
            </a:r>
          </a:p>
        </p:txBody>
      </p:sp>
      <p:sp>
        <p:nvSpPr>
          <p:cNvPr id="6" name="当前目标与决定">
            <a:extLst xmlns:a="http://schemas.openxmlformats.org/drawingml/2006/main">
              <a:ext uri="{FF2B5EF4-FFF2-40B4-BE49-F238E27FC236}">
                <a16:creationId xmlns:a16="http://schemas.microsoft.com/office/drawing/2014/main" id="{0863EA61-9001-4615-9D7D-B20D79A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90700"/>
            <a:ext cx="5057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当前目标与决定</a:t>
            </a:r>
          </a:p>
        </p:txBody>
      </p:sp>
      <p:sp>
        <p:nvSpPr>
          <p:cNvPr id="7" name="优先使用有明确更新关系的结论">
            <a:extLst xmlns:a="http://schemas.openxmlformats.org/drawingml/2006/main">
              <a:ext uri="{FF2B5EF4-FFF2-40B4-BE49-F238E27FC236}">
                <a16:creationId xmlns:a16="http://schemas.microsoft.com/office/drawing/2014/main" id="{C0766D3C-BC5F-4023-A74B-2A52A84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19325"/>
            <a:ext cx="505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优先使用有明确更新关系的结论</a:t>
            </a:r>
          </a:p>
        </p:txBody>
      </p:sp>
      <p:sp>
        <p:nvSpPr>
          <p:cNvPr id="8" name="约束与未完成事项">
            <a:extLst xmlns:a="http://schemas.openxmlformats.org/drawingml/2006/main">
              <a:ext uri="{FF2B5EF4-FFF2-40B4-BE49-F238E27FC236}">
                <a16:creationId xmlns:a16="http://schemas.microsoft.com/office/drawing/2014/main" id="{9313D577-7D92-4D09-A778-052EF12F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90825"/>
            <a:ext cx="5057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约束与未完成事项</a:t>
            </a:r>
          </a:p>
        </p:txBody>
      </p:sp>
      <p:sp>
        <p:nvSpPr>
          <p:cNvPr id="9" name="给出与当前任务有关的背景">
            <a:extLst xmlns:a="http://schemas.openxmlformats.org/drawingml/2006/main">
              <a:ext uri="{FF2B5EF4-FFF2-40B4-BE49-F238E27FC236}">
                <a16:creationId xmlns:a16="http://schemas.microsoft.com/office/drawing/2014/main" id="{07EFB3F8-9CC9-48E4-9E28-2C8F15B3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19450"/>
            <a:ext cx="505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给出与当前任务有关的背景</a:t>
            </a:r>
          </a:p>
        </p:txBody>
      </p:sp>
      <p:sp>
        <p:nvSpPr>
          <p:cNvPr id="10" name="原文引用与时间">
            <a:extLst xmlns:a="http://schemas.openxmlformats.org/drawingml/2006/main">
              <a:ext uri="{FF2B5EF4-FFF2-40B4-BE49-F238E27FC236}">
                <a16:creationId xmlns:a16="http://schemas.microsoft.com/office/drawing/2014/main" id="{0D6EF529-A8A1-445F-BA18-A23685F7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90950"/>
            <a:ext cx="5057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原文引用与时间</a:t>
            </a:r>
          </a:p>
        </p:txBody>
      </p:sp>
      <p:sp>
        <p:nvSpPr>
          <p:cNvPr id="11" name="需要时继续读取源记录和文件">
            <a:extLst xmlns:a="http://schemas.openxmlformats.org/drawingml/2006/main">
              <a:ext uri="{FF2B5EF4-FFF2-40B4-BE49-F238E27FC236}">
                <a16:creationId xmlns:a16="http://schemas.microsoft.com/office/drawing/2014/main" id="{07DB471E-10AB-48F2-9EFD-873BA574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19575"/>
            <a:ext cx="505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需要时继续读取源记录和文件</a:t>
            </a:r>
          </a:p>
        </p:txBody>
      </p:sp>
      <p:sp>
        <p:nvSpPr>
          <p:cNvPr id="12" name="冲突与证据缺口">
            <a:extLst xmlns:a="http://schemas.openxmlformats.org/drawingml/2006/main">
              <a:ext uri="{FF2B5EF4-FFF2-40B4-BE49-F238E27FC236}">
                <a16:creationId xmlns:a16="http://schemas.microsoft.com/office/drawing/2014/main" id="{EE0028BE-3DD5-481C-AB63-1D8F7A78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791075"/>
            <a:ext cx="5057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冲突与证据缺口</a:t>
            </a:r>
          </a:p>
        </p:txBody>
      </p:sp>
      <p:sp>
        <p:nvSpPr>
          <p:cNvPr id="13" name="明确说明未找到、未转录或范围不足">
            <a:extLst xmlns:a="http://schemas.openxmlformats.org/drawingml/2006/main">
              <a:ext uri="{FF2B5EF4-FFF2-40B4-BE49-F238E27FC236}">
                <a16:creationId xmlns:a16="http://schemas.microsoft.com/office/drawing/2014/main" id="{F0D8F9EC-27DD-460B-89F5-8DB52839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219700"/>
            <a:ext cx="505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明确说明未找到、未转录或范围不足</a:t>
            </a:r>
          </a:p>
        </p:txBody>
      </p:sp>
    </p:spTree>
    <p:extLst>
      <p:ext uri="{BB962C8B-B14F-4D97-AF65-F5344CB8AC3E}">
        <p14:creationId xmlns:p14="http://schemas.microsoft.com/office/powerpoint/2010/main" val="1025210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预算改了，依据仍然清楚">
            <a:extLst xmlns:a="http://schemas.openxmlformats.org/drawingml/2006/main">
              <a:ext uri="{FF2B5EF4-FFF2-40B4-BE49-F238E27FC236}">
                <a16:creationId xmlns:a16="http://schemas.microsoft.com/office/drawing/2014/main" id="{B352CAB0-FA1A-4595-A32D-F473B539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预算改了，依据仍然清楚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5486CE16-A1A2-4E42-A974-0A7C7A89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CEEEA823-AAEF-474F-83F7-3C24DA9D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3962400"/>
              </a:tblGrid>
              <a:tr h="790575">
                <a:tc>
                  <a:txBody>
                    <a:bodyPr lIns="190500" tIns="133350" rIns="171450" bIns="114300"/>
                    <a:lstStyle/>
                    <a:p>
                      <a:r>
                        <a:rPr sz="1875" b="1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记录</a:t>
                      </a:r>
                    </a:p>
                  </a:txBody>
                  <a:tcPr marL="91440" marR="91440" marT="45720" marB="45720" anchor="ctr">
                    <a:solidFill>
                      <a:srgbClr val="173B46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875" b="1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</a:t>
                      </a:r>
                    </a:p>
                  </a:txBody>
                  <a:tcPr marL="91440" marR="91440" marT="45720" marB="45720" anchor="ctr">
                    <a:solidFill>
                      <a:srgbClr val="173B46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875" b="1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在新对话中的含义</a:t>
                      </a:r>
                    </a:p>
                  </a:txBody>
                  <a:tcPr marL="91440" marR="91440" marT="45720" marB="45720" anchor="ctr">
                    <a:solidFill>
                      <a:srgbClr val="173B46"/>
                    </a:solidFill>
                  </a:tcPr>
                </a:tc>
              </a:tr>
              <a:tr h="790575">
                <a:tc>
                  <a:txBody>
                    <a:bodyPr lIns="190500" tIns="133350" rIns="171450" bIns="114300"/>
                    <a:lstStyle/>
                    <a:p>
                      <a:r>
                        <a:rPr sz="1875" b="0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 · 原始决定</a:t>
                      </a:r>
                    </a:p>
                  </a:txBody>
                  <a:tcPr marL="91440" marR="91440" marT="45720" marB="45720" anchor="ctr">
                    <a:solidFill>
                      <a:srgbClr val="081A25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875" b="0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项目预算为 5 万</a:t>
                      </a:r>
                    </a:p>
                  </a:txBody>
                  <a:tcPr marL="91440" marR="91440" marT="45720" marB="45720" anchor="ctr">
                    <a:solidFill>
                      <a:srgbClr val="081A25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875" b="0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保留为历史背景</a:t>
                      </a:r>
                    </a:p>
                  </a:txBody>
                  <a:tcPr marL="91440" marR="91440" marT="45720" marB="45720" anchor="ctr">
                    <a:solidFill>
                      <a:srgbClr val="081A25"/>
                    </a:solidFill>
                  </a:tcPr>
                </a:tc>
              </a:tr>
              <a:tr h="790575">
                <a:tc>
                  <a:txBody>
                    <a:bodyPr lIns="190500" tIns="133350" rIns="171450" bIns="114300"/>
                    <a:lstStyle/>
                    <a:p>
                      <a:r>
                        <a:rPr sz="1875" b="0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 · 明确变更</a:t>
                      </a:r>
                    </a:p>
                  </a:txBody>
                  <a:tcPr marL="91440" marR="91440" marT="45720" marB="45720" anchor="ctr">
                    <a:solidFill>
                      <a:srgbClr val="081A25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875" b="0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改为 3 万，取代记录 A</a:t>
                      </a:r>
                    </a:p>
                  </a:txBody>
                  <a:tcPr marL="91440" marR="91440" marT="45720" marB="45720" anchor="ctr">
                    <a:solidFill>
                      <a:srgbClr val="081A25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875" b="0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当前预算为 3 万</a:t>
                      </a:r>
                    </a:p>
                  </a:txBody>
                  <a:tcPr marL="91440" marR="91440" marT="45720" marB="45720" anchor="ctr">
                    <a:solidFill>
                      <a:srgbClr val="081A25"/>
                    </a:solidFill>
                  </a:tcPr>
                </a:tc>
              </a:tr>
              <a:tr h="790575">
                <a:tc>
                  <a:txBody>
                    <a:bodyPr lIns="190500" tIns="133350" rIns="171450" bIns="114300"/>
                    <a:lstStyle/>
                    <a:p>
                      <a:r>
                        <a:rPr sz="1875" b="0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 · 系统建议</a:t>
                      </a:r>
                    </a:p>
                  </a:txBody>
                  <a:tcPr marL="91440" marR="91440" marT="45720" marB="45720" anchor="ctr">
                    <a:solidFill>
                      <a:srgbClr val="081A25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875" b="0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建议优先投入推广</a:t>
                      </a:r>
                    </a:p>
                  </a:txBody>
                  <a:tcPr marL="91440" marR="91440" marT="45720" marB="45720" anchor="ctr">
                    <a:solidFill>
                      <a:srgbClr val="081A25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875" b="0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建议尚未获得用户确认</a:t>
                      </a:r>
                    </a:p>
                  </a:txBody>
                  <a:tcPr marL="91440" marR="91440" marT="45720" marB="45720" anchor="ctr">
                    <a:solidFill>
                      <a:srgbClr val="081A25"/>
                    </a:solidFill>
                  </a:tcPr>
                </a:tc>
              </a:tr>
            </a:tbl>
          </a:graphicData>
        </a:graphic>
      </p:graphicFrame>
      <p:sp>
        <p:nvSpPr>
          <p:cNvPr id="5" name="当前预算：3 万，依据记录 B">
            <a:extLst xmlns:a="http://schemas.openxmlformats.org/drawingml/2006/main">
              <a:ext uri="{FF2B5EF4-FFF2-40B4-BE49-F238E27FC236}">
                <a16:creationId xmlns:a16="http://schemas.microsoft.com/office/drawing/2014/main" id="{1F5AD3D2-A60B-4077-88BA-698B9A77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当前预算：3 万，依据记录 B</a:t>
            </a:r>
          </a:p>
        </p:txBody>
      </p:sp>
      <p:sp>
        <p:nvSpPr>
          <p:cNvPr id="6" name="若两条陈述相互矛盾且没有取代关系，系统应呈现冲突。">
            <a:extLst xmlns:a="http://schemas.openxmlformats.org/drawingml/2006/main">
              <a:ext uri="{FF2B5EF4-FFF2-40B4-BE49-F238E27FC236}">
                <a16:creationId xmlns:a16="http://schemas.microsoft.com/office/drawing/2014/main" id="{E98F5290-4A84-46BB-9B22-93B31505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若两条陈述相互矛盾且没有取代关系，系统应呈现冲突。</a:t>
            </a:r>
          </a:p>
        </p:txBody>
      </p:sp>
    </p:spTree>
    <p:extLst>
      <p:ext uri="{BB962C8B-B14F-4D97-AF65-F5344CB8AC3E}">
        <p14:creationId xmlns:p14="http://schemas.microsoft.com/office/powerpoint/2010/main" val="1416103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用户安装的 skill 提供主动服务">
            <a:extLst xmlns:a="http://schemas.openxmlformats.org/drawingml/2006/main">
              <a:ext uri="{FF2B5EF4-FFF2-40B4-BE49-F238E27FC236}">
                <a16:creationId xmlns:a16="http://schemas.microsoft.com/office/drawing/2014/main" id="{0CDDA773-7B6A-4E26-B0D3-DC0715F4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用户安装的 skill 提供主动服务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4C346CB1-558B-4287-8D8F-8956F998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8845556E-791A-489D-84F2-A1496016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sp>
        <p:nvSpPr>
          <p:cNvPr id="4" name="新记录到达时">
            <a:extLst xmlns:a="http://schemas.openxmlformats.org/drawingml/2006/main">
              <a:ext uri="{FF2B5EF4-FFF2-40B4-BE49-F238E27FC236}">
                <a16:creationId xmlns:a16="http://schemas.microsoft.com/office/drawing/2014/main" id="{6552C3FA-B1DC-40F8-8A6F-0B1AEFCE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85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新记录到达时</a:t>
            </a:r>
          </a:p>
        </p:txBody>
      </p:sp>
      <p:sp>
        <p:nvSpPr>
          <p:cNvPr id="5" name="录音转录">
            <a:extLst xmlns:a="http://schemas.openxmlformats.org/drawingml/2006/main">
              <a:ext uri="{FF2B5EF4-FFF2-40B4-BE49-F238E27FC236}">
                <a16:creationId xmlns:a16="http://schemas.microsoft.com/office/drawing/2014/main" id="{0B5214A5-3918-44C8-B1C7-CEB5E6FE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857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录音转录</a:t>
            </a:r>
          </a:p>
        </p:txBody>
      </p:sp>
      <p:sp>
        <p:nvSpPr>
          <p:cNvPr id="6" name="按来源和内容类型匹配规则&#10;使用用户配置的提示词处理">
            <a:extLst xmlns:a="http://schemas.openxmlformats.org/drawingml/2006/main">
              <a:ext uri="{FF2B5EF4-FFF2-40B4-BE49-F238E27FC236}">
                <a16:creationId xmlns:a16="http://schemas.microsoft.com/office/drawing/2014/main" id="{39EE1C4F-1EF7-44DC-9370-69B4D7B7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按来源和内容类型匹配规则</a:t>
            </a:r>
          </a:p>
          <a:p xmlns:a="http://schemas.openxmlformats.org/drawingml/2006/main">
            <a:pPr>
              <a:defRPr sz="22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使用用户配置的提示词处理</a:t>
            </a:r>
          </a:p>
        </p:txBody>
      </p:sp>
      <p:sp>
        <p:nvSpPr>
          <p:cNvPr id="7" name="指定时间到达时">
            <a:extLst xmlns:a="http://schemas.openxmlformats.org/drawingml/2006/main">
              <a:ext uri="{FF2B5EF4-FFF2-40B4-BE49-F238E27FC236}">
                <a16:creationId xmlns:a16="http://schemas.microsoft.com/office/drawing/2014/main" id="{AA557C62-02E4-48AD-AE17-F84A1861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81175"/>
            <a:ext cx="4991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指定时间到达时</a:t>
            </a:r>
          </a:p>
        </p:txBody>
      </p:sp>
      <p:sp>
        <p:nvSpPr>
          <p:cNvPr id="8" name="每日回顾">
            <a:extLst xmlns:a="http://schemas.openxmlformats.org/drawingml/2006/main">
              <a:ext uri="{FF2B5EF4-FFF2-40B4-BE49-F238E27FC236}">
                <a16:creationId xmlns:a16="http://schemas.microsoft.com/office/drawing/2014/main" id="{973A7EFB-A687-4F0C-9042-7B350E59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19375"/>
            <a:ext cx="4991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每日回顾</a:t>
            </a:r>
          </a:p>
        </p:txBody>
      </p:sp>
      <p:sp>
        <p:nvSpPr>
          <p:cNvPr id="9" name="按用户选择的时间与时区执行&#10;结果写回项目和产品内收件箱">
            <a:extLst xmlns:a="http://schemas.openxmlformats.org/drawingml/2006/main">
              <a:ext uri="{FF2B5EF4-FFF2-40B4-BE49-F238E27FC236}">
                <a16:creationId xmlns:a16="http://schemas.microsoft.com/office/drawing/2014/main" id="{36C2136C-A66C-4B3B-9864-25D0BD1E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43275"/>
            <a:ext cx="4991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按用户选择的时间与时区执行</a:t>
            </a:r>
          </a:p>
          <a:p xmlns:a="http://schemas.openxmlformats.org/drawingml/2006/main">
            <a:pPr>
              <a:defRPr sz="22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结果写回项目和产品内收件箱</a:t>
            </a:r>
          </a:p>
        </p:txBody>
      </p:sp>
      <p:sp>
        <p:nvSpPr>
          <p:cNvPr id="10" name="用户决定读什么、由谁执行、产出什么，并可暂停服务">
            <a:extLst xmlns:a="http://schemas.openxmlformats.org/drawingml/2006/main">
              <a:ext uri="{FF2B5EF4-FFF2-40B4-BE49-F238E27FC236}">
                <a16:creationId xmlns:a16="http://schemas.microsoft.com/office/drawing/2014/main" id="{B89A9A5A-BB50-4616-BD85-9096D04F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用户决定读什么、由谁执行、产出什么，并可暂停服务</a:t>
            </a:r>
          </a:p>
        </p:txBody>
      </p:sp>
    </p:spTree>
    <p:extLst>
      <p:ext uri="{BB962C8B-B14F-4D97-AF65-F5344CB8AC3E}">
        <p14:creationId xmlns:p14="http://schemas.microsoft.com/office/powerpoint/2010/main" val="210598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数据范围和执行权限由用户掌握">
            <a:extLst xmlns:a="http://schemas.openxmlformats.org/drawingml/2006/main">
              <a:ext uri="{FF2B5EF4-FFF2-40B4-BE49-F238E27FC236}">
                <a16:creationId xmlns:a16="http://schemas.microsoft.com/office/drawing/2014/main" id="{2F3A2B4C-4794-4E7C-9B28-94E258A9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数据范围和执行权限由用户掌握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AA50DD2C-257D-4292-9971-8B106401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8B2A18CD-E257-45BD-93F0-DFAC4AD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sp>
        <p:nvSpPr>
          <p:cNvPr id="4" name="项目边界">
            <a:extLst xmlns:a="http://schemas.openxmlformats.org/drawingml/2006/main">
              <a:ext uri="{FF2B5EF4-FFF2-40B4-BE49-F238E27FC236}">
                <a16:creationId xmlns:a16="http://schemas.microsoft.com/office/drawing/2014/main" id="{09F56403-FA85-4AE6-BBE3-08DFD0B2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项目边界</a:t>
            </a:r>
          </a:p>
        </p:txBody>
      </p:sp>
      <p:sp>
        <p:nvSpPr>
          <p:cNvPr id="5" name="一次运行只访问一个项目，私人记录放在私人项目。">
            <a:extLst xmlns:a="http://schemas.openxmlformats.org/drawingml/2006/main">
              <a:ext uri="{FF2B5EF4-FFF2-40B4-BE49-F238E27FC236}">
                <a16:creationId xmlns:a16="http://schemas.microsoft.com/office/drawing/2014/main" id="{C37581DB-2DC0-4521-B36C-E010A8E2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28800"/>
            <a:ext cx="700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一次运行只访问一个项目，私人记录放在私人项目。</a:t>
            </a:r>
          </a:p>
        </p:txBody>
      </p:sp>
      <p:sp>
        <p:nvSpPr>
          <p:cNvPr id="6" name="自己的执行环境">
            <a:extLst xmlns:a="http://schemas.openxmlformats.org/drawingml/2006/main">
              <a:ext uri="{FF2B5EF4-FFF2-40B4-BE49-F238E27FC236}">
                <a16:creationId xmlns:a16="http://schemas.microsoft.com/office/drawing/2014/main" id="{4455191A-5562-4AEE-BC60-A731BB2C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自己的执行环境</a:t>
            </a:r>
          </a:p>
        </p:txBody>
      </p:sp>
      <p:sp>
        <p:nvSpPr>
          <p:cNvPr id="7" name="选择 runner 和 agent，启用前验证所需工具能力。">
            <a:extLst xmlns:a="http://schemas.openxmlformats.org/drawingml/2006/main">
              <a:ext uri="{FF2B5EF4-FFF2-40B4-BE49-F238E27FC236}">
                <a16:creationId xmlns:a16="http://schemas.microsoft.com/office/drawing/2014/main" id="{AEACAFF3-2705-463C-B1A9-3DD86127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86075"/>
            <a:ext cx="700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选择 runner 和 agent，启用前验证所需工具能力。</a:t>
            </a:r>
          </a:p>
        </p:txBody>
      </p:sp>
      <p:sp>
        <p:nvSpPr>
          <p:cNvPr id="8" name="可检查的运行">
            <a:extLst xmlns:a="http://schemas.openxmlformats.org/drawingml/2006/main">
              <a:ext uri="{FF2B5EF4-FFF2-40B4-BE49-F238E27FC236}">
                <a16:creationId xmlns:a16="http://schemas.microsoft.com/office/drawing/2014/main" id="{EE049016-35DD-4098-B45D-2BAB1FE4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可检查的运行</a:t>
            </a:r>
          </a:p>
        </p:txBody>
      </p:sp>
      <p:sp>
        <p:nvSpPr>
          <p:cNvPr id="9" name="查看输入、版本、结果和错误，按需重试或暂停。">
            <a:extLst xmlns:a="http://schemas.openxmlformats.org/drawingml/2006/main">
              <a:ext uri="{FF2B5EF4-FFF2-40B4-BE49-F238E27FC236}">
                <a16:creationId xmlns:a16="http://schemas.microsoft.com/office/drawing/2014/main" id="{136E25AC-3F30-443D-B609-38FDB67E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43350"/>
            <a:ext cx="700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查看输入、版本、结果和错误，按需重试或暂停。</a:t>
            </a:r>
          </a:p>
        </p:txBody>
      </p:sp>
      <p:sp>
        <p:nvSpPr>
          <p:cNvPr id="10" name="独立的分享授权">
            <a:extLst xmlns:a="http://schemas.openxmlformats.org/drawingml/2006/main">
              <a:ext uri="{FF2B5EF4-FFF2-40B4-BE49-F238E27FC236}">
                <a16:creationId xmlns:a16="http://schemas.microsoft.com/office/drawing/2014/main" id="{519EA57D-6E65-4A72-B5AE-28B0AFFB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独立的分享授权</a:t>
            </a:r>
          </a:p>
        </p:txBody>
      </p:sp>
      <p:sp>
        <p:nvSpPr>
          <p:cNvPr id="11" name="外部分享默认草稿，自动发布需明确配置范围与目的地。">
            <a:extLst xmlns:a="http://schemas.openxmlformats.org/drawingml/2006/main">
              <a:ext uri="{FF2B5EF4-FFF2-40B4-BE49-F238E27FC236}">
                <a16:creationId xmlns:a16="http://schemas.microsoft.com/office/drawing/2014/main" id="{C09FA12E-2249-481A-B53A-BD969C58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00625"/>
            <a:ext cx="700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外部分享默认草稿，自动发布需明确配置范围与目的地。</a:t>
            </a:r>
          </a:p>
        </p:txBody>
      </p:sp>
    </p:spTree>
    <p:extLst>
      <p:ext uri="{BB962C8B-B14F-4D97-AF65-F5344CB8AC3E}">
        <p14:creationId xmlns:p14="http://schemas.microsoft.com/office/powerpoint/2010/main" val="1800293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下一轮 MVP：语音记录与每日回顾">
            <a:extLst xmlns:a="http://schemas.openxmlformats.org/drawingml/2006/main">
              <a:ext uri="{FF2B5EF4-FFF2-40B4-BE49-F238E27FC236}">
                <a16:creationId xmlns:a16="http://schemas.microsoft.com/office/drawing/2014/main" id="{CA92CE08-516C-48A0-8874-98958F36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下一轮 MVP：语音记录与每日回顾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987B7B6A-DE01-46F2-8979-FCEA63A5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BF3B5B4E-4316-402C-8262-9F0FF30F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sp>
        <p:nvSpPr>
          <p:cNvPr id="4" name="先验证：换一个真实对话，仍能正确接着做">
            <a:extLst xmlns:a="http://schemas.openxmlformats.org/drawingml/2006/main">
              <a:ext uri="{FF2B5EF4-FFF2-40B4-BE49-F238E27FC236}">
                <a16:creationId xmlns:a16="http://schemas.microsoft.com/office/drawing/2014/main" id="{E4D10937-9C6E-4D86-AA33-6C977F5D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先验证：换一个真实对话，仍能正确接着做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24C40DE3-1A55-48DC-A0C4-7E9C0AAB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733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上传录音与文字">
            <a:extLst xmlns:a="http://schemas.openxmlformats.org/drawingml/2006/main">
              <a:ext uri="{FF2B5EF4-FFF2-40B4-BE49-F238E27FC236}">
                <a16:creationId xmlns:a16="http://schemas.microsoft.com/office/drawing/2014/main" id="{2E071B05-2FD1-466B-9723-F9335795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860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上传录音与文字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4FC80768-854E-439F-B424-85C20CA8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733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按配置转录并追加结果">
            <a:extLst xmlns:a="http://schemas.openxmlformats.org/drawingml/2006/main">
              <a:ext uri="{FF2B5EF4-FFF2-40B4-BE49-F238E27FC236}">
                <a16:creationId xmlns:a16="http://schemas.microsoft.com/office/drawing/2014/main" id="{0C768745-D2CD-4659-8C07-8AB84EF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814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按配置转录并追加结果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32A5A344-06E5-40D9-84A5-FDE8E8D3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733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MCP 按问题提取背景">
            <a:extLst xmlns:a="http://schemas.openxmlformats.org/drawingml/2006/main">
              <a:ext uri="{FF2B5EF4-FFF2-40B4-BE49-F238E27FC236}">
                <a16:creationId xmlns:a16="http://schemas.microsoft.com/office/drawing/2014/main" id="{F1F81B17-F87A-4FC7-9ACD-3B398C4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4767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MCP 按问题提取背景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B83B2AB5-F0E0-4E75-9369-24F97EBB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733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2" name="新对话引用记录回答">
            <a:extLst xmlns:a="http://schemas.openxmlformats.org/drawingml/2006/main">
              <a:ext uri="{FF2B5EF4-FFF2-40B4-BE49-F238E27FC236}">
                <a16:creationId xmlns:a16="http://schemas.microsoft.com/office/drawing/2014/main" id="{F3826B8B-A72F-442B-A125-EF7683CE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860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新对话引用记录回答</a:t>
            </a:r>
          </a:p>
        </p:txBody>
      </p:sp>
      <p:sp>
        <p:nvSpPr>
          <p:cNvPr id="13" name="05">
            <a:extLst xmlns:a="http://schemas.openxmlformats.org/drawingml/2006/main">
              <a:ext uri="{FF2B5EF4-FFF2-40B4-BE49-F238E27FC236}">
                <a16:creationId xmlns:a16="http://schemas.microsoft.com/office/drawing/2014/main" id="{1CA33CF5-C971-4B0A-AF2A-F469C2F0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52825"/>
            <a:ext cx="733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4" name="定时 skill 生成每日回顾">
            <a:extLst xmlns:a="http://schemas.openxmlformats.org/drawingml/2006/main">
              <a:ext uri="{FF2B5EF4-FFF2-40B4-BE49-F238E27FC236}">
                <a16:creationId xmlns:a16="http://schemas.microsoft.com/office/drawing/2014/main" id="{EDAE6E97-4FBA-4F7B-BF0A-9DFECE5F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5814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定时 skill 生成每日回顾</a:t>
            </a:r>
          </a:p>
        </p:txBody>
      </p:sp>
      <p:sp>
        <p:nvSpPr>
          <p:cNvPr id="15" name="06">
            <a:extLst xmlns:a="http://schemas.openxmlformats.org/drawingml/2006/main">
              <a:ext uri="{FF2B5EF4-FFF2-40B4-BE49-F238E27FC236}">
                <a16:creationId xmlns:a16="http://schemas.microsoft.com/office/drawing/2014/main" id="{43A95A06-0810-4FF4-8636-84D9785C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48175"/>
            <a:ext cx="733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16" name="在产品内收件箱查看">
            <a:extLst xmlns:a="http://schemas.openxmlformats.org/drawingml/2006/main">
              <a:ext uri="{FF2B5EF4-FFF2-40B4-BE49-F238E27FC236}">
                <a16:creationId xmlns:a16="http://schemas.microsoft.com/office/drawing/2014/main" id="{C1FF579D-06D1-4EA2-B885-0A3F4C14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767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在产品内收件箱查看</a:t>
            </a:r>
          </a:p>
        </p:txBody>
      </p:sp>
      <p:sp>
        <p:nvSpPr>
          <p:cNvPr id="17" name="一个项目   一个真实 runner   两个固定版本 skill">
            <a:extLst xmlns:a="http://schemas.openxmlformats.org/drawingml/2006/main">
              <a:ext uri="{FF2B5EF4-FFF2-40B4-BE49-F238E27FC236}">
                <a16:creationId xmlns:a16="http://schemas.microsoft.com/office/drawing/2014/main" id="{C5FD0B02-AE8D-4C9C-8410-7D3471D8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一个项目   一个真实 runner   两个固定版本 skill</a:t>
            </a:r>
          </a:p>
        </p:txBody>
      </p:sp>
    </p:spTree>
    <p:extLst>
      <p:ext uri="{BB962C8B-B14F-4D97-AF65-F5344CB8AC3E}">
        <p14:creationId xmlns:p14="http://schemas.microsoft.com/office/powerpoint/2010/main" val="11099162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产品方向与交付范围">
            <a:extLst xmlns:a="http://schemas.openxmlformats.org/drawingml/2006/main">
              <a:ext uri="{FF2B5EF4-FFF2-40B4-BE49-F238E27FC236}">
                <a16:creationId xmlns:a16="http://schemas.microsoft.com/office/drawing/2014/main" id="{69C7B35A-0EDB-4CFD-A36A-ACAD1DC3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产品方向与交付范围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3EF57032-6B87-478A-ABF5-BA81E670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0442B7BE-5AF5-4FE1-ADF4-1CBF0BAC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8717A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71825"/>
                <a:gridCol w="7648575"/>
              </a:tblGrid>
              <a:tr h="689610">
                <a:tc>
                  <a:txBody>
                    <a:bodyPr lIns="190500" tIns="133350" rIns="171450" bIns="114300"/>
                    <a:lstStyle/>
                    <a:p>
                      <a:r>
                        <a:rPr sz="1950" b="1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73B46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950" b="1">
                          <a:solidFill>
                            <a:srgbClr val="F3F6F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173B46"/>
                    </a:solidFill>
                  </a:tcPr>
                </a:tc>
              </a:tr>
              <a:tr h="689610">
                <a:tc>
                  <a:txBody>
                    <a:bodyPr lIns="190500" tIns="133350" rIns="171450" bIns="114300"/>
                    <a:lstStyle/>
                    <a:p>
                      <a:r>
                        <a:rPr sz="1950" b="0">
                          <a:solidFill>
                            <a:srgbClr val="102D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文档列出的既有基础</a:t>
                      </a:r>
                    </a:p>
                  </a:txBody>
                  <a:tcPr marL="91440" marR="91440" marT="45720" marB="45720" anchor="ctr">
                    <a:solidFill>
                      <a:srgbClr val="F3F5F0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950" b="0">
                          <a:solidFill>
                            <a:srgbClr val="102D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项目授权、文件事件、HTTP / MCP、CLI 和项目页</a:t>
                      </a:r>
                    </a:p>
                  </a:txBody>
                  <a:tcPr marL="91440" marR="91440" marT="45720" marB="45720" anchor="ctr">
                    <a:solidFill>
                      <a:srgbClr val="F3F5F0"/>
                    </a:solidFill>
                  </a:tcPr>
                </a:tc>
              </a:tr>
              <a:tr h="689610">
                <a:tc>
                  <a:txBody>
                    <a:bodyPr lIns="190500" tIns="133350" rIns="171450" bIns="114300"/>
                    <a:lstStyle/>
                    <a:p>
                      <a:r>
                        <a:rPr sz="1950" b="0">
                          <a:solidFill>
                            <a:srgbClr val="102D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下一轮最小验证</a:t>
                      </a:r>
                    </a:p>
                  </a:txBody>
                  <a:tcPr marL="91440" marR="91440" marT="45720" marB="45720" anchor="ctr">
                    <a:solidFill>
                      <a:srgbClr val="F3F5F0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950" b="0">
                          <a:solidFill>
                            <a:srgbClr val="102D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音频转录、按问题提取 context、定时回顾与收件箱</a:t>
                      </a:r>
                    </a:p>
                  </a:txBody>
                  <a:tcPr marL="91440" marR="91440" marT="45720" marB="45720" anchor="ctr">
                    <a:solidFill>
                      <a:srgbClr val="F3F5F0"/>
                    </a:solidFill>
                  </a:tcPr>
                </a:tc>
              </a:tr>
              <a:tr h="689610">
                <a:tc>
                  <a:txBody>
                    <a:bodyPr lIns="190500" tIns="133350" rIns="171450" bIns="114300"/>
                    <a:lstStyle/>
                    <a:p>
                      <a:r>
                        <a:rPr sz="1950" b="0">
                          <a:solidFill>
                            <a:srgbClr val="102D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后续方向</a:t>
                      </a:r>
                    </a:p>
                  </a:txBody>
                  <a:tcPr marL="91440" marR="91440" marT="45720" marB="45720" anchor="ctr">
                    <a:solidFill>
                      <a:srgbClr val="F3F5F0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950" b="0">
                          <a:solidFill>
                            <a:srgbClr val="102D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图片分析、提醒与推荐、外部分享</a:t>
                      </a:r>
                    </a:p>
                  </a:txBody>
                  <a:tcPr marL="91440" marR="91440" marT="45720" marB="45720" anchor="ctr">
                    <a:solidFill>
                      <a:srgbClr val="F3F5F0"/>
                    </a:solidFill>
                  </a:tcPr>
                </a:tc>
              </a:tr>
              <a:tr h="689610">
                <a:tc>
                  <a:txBody>
                    <a:bodyPr lIns="190500" tIns="133350" rIns="171450" bIns="114300"/>
                    <a:lstStyle/>
                    <a:p>
                      <a:r>
                        <a:rPr sz="1950" b="0">
                          <a:solidFill>
                            <a:srgbClr val="102D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暂不纳入首轮</a:t>
                      </a:r>
                    </a:p>
                  </a:txBody>
                  <a:tcPr marL="91440" marR="91440" marT="45720" marB="45720" anchor="ctr">
                    <a:solidFill>
                      <a:srgbClr val="F3F5F0"/>
                    </a:solidFill>
                  </a:tcPr>
                </a:tc>
                <a:tc>
                  <a:txBody>
                    <a:bodyPr lIns="190500" tIns="133350" rIns="171450" bIns="114300"/>
                    <a:lstStyle/>
                    <a:p>
                      <a:r>
                        <a:rPr sz="1950" b="0">
                          <a:solidFill>
                            <a:srgbClr val="102D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跨项目 memory、第三方市场、通用流程画布、并行集群</a:t>
                      </a:r>
                    </a:p>
                  </a:txBody>
                  <a:tcPr marL="91440" marR="91440" marT="45720" marB="45720" anchor="ctr">
                    <a:solidFill>
                      <a:srgbClr val="F3F5F0"/>
                    </a:solidFill>
                  </a:tcPr>
                </a:tc>
              </a:tr>
            </a:tbl>
          </a:graphicData>
        </a:graphic>
      </p:graphicFrame>
      <p:sp>
        <p:nvSpPr>
          <p:cNvPr id="5" name="完整链路通过验收后，再声明对应能力已支持">
            <a:extLst xmlns:a="http://schemas.openxmlformats.org/drawingml/2006/main">
              <a:ext uri="{FF2B5EF4-FFF2-40B4-BE49-F238E27FC236}">
                <a16:creationId xmlns:a16="http://schemas.microsoft.com/office/drawing/2014/main" id="{CC2B7A70-0525-467D-B834-6259A40A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02D39"/>
                </a:solidFill>
                <a:latin typeface="Arial Unicode MS"/>
                <a:ea typeface="Arial Unicode MS"/>
                <a:cs typeface="Arial Unicode MS"/>
              </a:rPr>
              <a:t>完整链路通过验收后，再声明对应能力已支持</a:t>
            </a:r>
          </a:p>
        </p:txBody>
      </p:sp>
    </p:spTree>
    <p:extLst>
      <p:ext uri="{BB962C8B-B14F-4D97-AF65-F5344CB8AC3E}">
        <p14:creationId xmlns:p14="http://schemas.microsoft.com/office/powerpoint/2010/main" val="1636173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1c0589d0a4d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4228C15E-12F3-4B95-A63F-9A534EE0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6305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Event-driven Context">
            <a:extLst xmlns:a="http://schemas.openxmlformats.org/drawingml/2006/main">
              <a:ext uri="{FF2B5EF4-FFF2-40B4-BE49-F238E27FC236}">
                <a16:creationId xmlns:a16="http://schemas.microsoft.com/office/drawing/2014/main" id="{2C5749B5-5111-4DA2-86C4-62983EDC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Event-driven Context</a:t>
            </a:r>
          </a:p>
        </p:txBody>
      </p:sp>
      <p:sp>
        <p:nvSpPr>
          <p:cNvPr id="4" name="让已记录的背景，&#10;支持下一次行动">
            <a:extLst xmlns:a="http://schemas.openxmlformats.org/drawingml/2006/main">
              <a:ext uri="{FF2B5EF4-FFF2-40B4-BE49-F238E27FC236}">
                <a16:creationId xmlns:a16="http://schemas.microsoft.com/office/drawing/2014/main" id="{588C1DE1-1C1C-41DD-86B1-E00F39CC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181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让已记录的背景，</a:t>
            </a:r>
          </a:p>
          <a:p xmlns:a="http://schemas.openxmlformats.org/drawingml/2006/main">
            <a:pPr>
              <a:defRPr sz="42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75" b="1">
                <a:solidFill>
                  <a:srgbClr val="F3F6F5"/>
                </a:solidFill>
                <a:latin typeface="Arial Unicode MS"/>
                <a:ea typeface="Arial Unicode MS"/>
                <a:cs typeface="Arial Unicode MS"/>
              </a:rPr>
              <a:t>支持下一次行动</a:t>
            </a:r>
          </a:p>
        </p:txBody>
      </p:sp>
      <p:sp>
        <p:nvSpPr>
          <p:cNvPr id="5" name="从一个持续推进的真实项目开始验证">
            <a:extLst xmlns:a="http://schemas.openxmlformats.org/drawingml/2006/main">
              <a:ext uri="{FF2B5EF4-FFF2-40B4-BE49-F238E27FC236}">
                <a16:creationId xmlns:a16="http://schemas.microsoft.com/office/drawing/2014/main" id="{3F592210-D2C3-4BAB-A53A-955C0B16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681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63DFC6"/>
                </a:solidFill>
                <a:latin typeface="Arial Unicode MS"/>
                <a:ea typeface="Arial Unicode MS"/>
                <a:cs typeface="Arial Unicode MS"/>
              </a:rPr>
              <a:t>从一个持续推进的真实项目开始验证</a:t>
            </a:r>
          </a:p>
        </p:txBody>
      </p:sp>
      <p:sp>
        <p:nvSpPr>
          <p:cNvPr id="6" name="是否减少重复解释&#10;是否信任引用和回顾&#10;是否愿意继续记录">
            <a:extLst xmlns:a="http://schemas.openxmlformats.org/drawingml/2006/main">
              <a:ext uri="{FF2B5EF4-FFF2-40B4-BE49-F238E27FC236}">
                <a16:creationId xmlns:a16="http://schemas.microsoft.com/office/drawing/2014/main" id="{B5B621D6-DE08-400D-A97E-C62C1C4F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6524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是否减少重复解释</a:t>
            </a:r>
          </a:p>
          <a:p xmlns:a="http://schemas.openxmlformats.org/drawingml/2006/main">
            <a:pPr>
              <a:def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是否信任引用和回顾</a:t>
            </a:r>
          </a:p>
          <a:p xmlns:a="http://schemas.openxmlformats.org/drawingml/2006/main">
            <a:pPr>
              <a:def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B1C3CC"/>
                </a:solidFill>
                <a:latin typeface="Arial Unicode MS"/>
                <a:ea typeface="Arial Unicode MS"/>
                <a:cs typeface="Arial Unicode MS"/>
              </a:rPr>
              <a:t>是否愿意继续记录</a:t>
            </a:r>
          </a:p>
        </p:txBody>
      </p:sp>
    </p:spTree>
    <p:extLst>
      <p:ext uri="{BB962C8B-B14F-4D97-AF65-F5344CB8AC3E}">
        <p14:creationId xmlns:p14="http://schemas.microsoft.com/office/powerpoint/2010/main" val="296718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2026-09-11T17:05:19.5430000Z</dcterms:created>
  <dcterms:modified xsi:type="dcterms:W3CDTF">2026-09-11T17:05:19.5430000Z</dcterms:modified>
</coreProperties>
</file>